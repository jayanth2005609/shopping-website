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75" r:id="rId2"/>
    <p:sldId id="388" r:id="rId3"/>
    <p:sldId id="390" r:id="rId4"/>
    <p:sldId id="393" r:id="rId5"/>
    <p:sldId id="402" r:id="rId6"/>
    <p:sldId id="407" r:id="rId7"/>
    <p:sldId id="412" r:id="rId8"/>
    <p:sldId id="414" r:id="rId9"/>
    <p:sldId id="410" r:id="rId10"/>
    <p:sldId id="396" r:id="rId11"/>
    <p:sldId id="415" r:id="rId12"/>
    <p:sldId id="413" r:id="rId13"/>
    <p:sldId id="416" r:id="rId14"/>
    <p:sldId id="417" r:id="rId15"/>
    <p:sldId id="418" r:id="rId16"/>
    <p:sldId id="41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0A2745-8E8E-905F-4EF6-51A957003B93}" name="Jayanth reddy Katam" initials="JK" userId="c6e7d371f244bd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3F2ED-6BD1-4CDD-82F2-6FABC7D94A40}" v="5" dt="2025-10-28T12:18:30.9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showGuides="1">
      <p:cViewPr varScale="1">
        <p:scale>
          <a:sx n="84" d="100"/>
          <a:sy n="84" d="100"/>
        </p:scale>
        <p:origin x="169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 reddy Katam" userId="c6e7d371f244bdbf" providerId="LiveId" clId="{BEED222E-E174-49A0-927F-28D2BCD624EC}"/>
    <pc:docChg chg="custSel modSld">
      <pc:chgData name="Jayanth reddy Katam" userId="c6e7d371f244bdbf" providerId="LiveId" clId="{BEED222E-E174-49A0-927F-28D2BCD624EC}" dt="2025-10-28T23:14:26.569" v="208" actId="20577"/>
      <pc:docMkLst>
        <pc:docMk/>
      </pc:docMkLst>
      <pc:sldChg chg="modSp mod">
        <pc:chgData name="Jayanth reddy Katam" userId="c6e7d371f244bdbf" providerId="LiveId" clId="{BEED222E-E174-49A0-927F-28D2BCD624EC}" dt="2025-10-28T23:14:26.569" v="208" actId="20577"/>
        <pc:sldMkLst>
          <pc:docMk/>
          <pc:sldMk cId="0" sldId="275"/>
        </pc:sldMkLst>
        <pc:spChg chg="mod">
          <ac:chgData name="Jayanth reddy Katam" userId="c6e7d371f244bdbf" providerId="LiveId" clId="{BEED222E-E174-49A0-927F-28D2BCD624EC}" dt="2025-10-28T23:14:26.569" v="208" actId="20577"/>
          <ac:spMkLst>
            <pc:docMk/>
            <pc:sldMk cId="0" sldId="275"/>
            <ac:spMk id="9" creationId="{00000000-0000-0000-0000-000000000000}"/>
          </ac:spMkLst>
        </pc:spChg>
        <pc:spChg chg="mod">
          <ac:chgData name="Jayanth reddy Katam" userId="c6e7d371f244bdbf" providerId="LiveId" clId="{BEED222E-E174-49A0-927F-28D2BCD624EC}" dt="2025-10-28T23:14:15.469" v="206" actId="20577"/>
          <ac:spMkLst>
            <pc:docMk/>
            <pc:sldMk cId="0" sldId="275"/>
            <ac:spMk id="14" creationId="{00000000-0000-0000-0000-000000000000}"/>
          </ac:spMkLst>
        </pc:spChg>
      </pc:sldChg>
      <pc:sldChg chg="addSp delSp modSp mod">
        <pc:chgData name="Jayanth reddy Katam" userId="c6e7d371f244bdbf" providerId="LiveId" clId="{BEED222E-E174-49A0-927F-28D2BCD624EC}" dt="2025-10-28T12:13:50.259" v="26" actId="14100"/>
        <pc:sldMkLst>
          <pc:docMk/>
          <pc:sldMk cId="601917120" sldId="413"/>
        </pc:sldMkLst>
        <pc:spChg chg="mod">
          <ac:chgData name="Jayanth reddy Katam" userId="c6e7d371f244bdbf" providerId="LiveId" clId="{BEED222E-E174-49A0-927F-28D2BCD624EC}" dt="2025-10-28T12:13:03.440" v="21" actId="20577"/>
          <ac:spMkLst>
            <pc:docMk/>
            <pc:sldMk cId="601917120" sldId="413"/>
            <ac:spMk id="8" creationId="{EE1B8938-ED97-D6F3-94B6-56941308DDC8}"/>
          </ac:spMkLst>
        </pc:spChg>
        <pc:picChg chg="del">
          <ac:chgData name="Jayanth reddy Katam" userId="c6e7d371f244bdbf" providerId="LiveId" clId="{BEED222E-E174-49A0-927F-28D2BCD624EC}" dt="2025-10-28T12:12:47.421" v="0" actId="478"/>
          <ac:picMkLst>
            <pc:docMk/>
            <pc:sldMk cId="601917120" sldId="413"/>
            <ac:picMk id="7" creationId="{281D7ABC-E791-D1FB-0507-A5DD454984B0}"/>
          </ac:picMkLst>
        </pc:picChg>
        <pc:picChg chg="add mod">
          <ac:chgData name="Jayanth reddy Katam" userId="c6e7d371f244bdbf" providerId="LiveId" clId="{BEED222E-E174-49A0-927F-28D2BCD624EC}" dt="2025-10-28T12:13:50.259" v="26" actId="14100"/>
          <ac:picMkLst>
            <pc:docMk/>
            <pc:sldMk cId="601917120" sldId="413"/>
            <ac:picMk id="9" creationId="{5C66F302-372D-24C4-9936-F22E6DC0CD68}"/>
          </ac:picMkLst>
        </pc:picChg>
      </pc:sldChg>
      <pc:sldChg chg="addSp delSp modSp mod">
        <pc:chgData name="Jayanth reddy Katam" userId="c6e7d371f244bdbf" providerId="LiveId" clId="{BEED222E-E174-49A0-927F-28D2BCD624EC}" dt="2025-10-28T12:16:36.260" v="111" actId="20577"/>
        <pc:sldMkLst>
          <pc:docMk/>
          <pc:sldMk cId="4026276336" sldId="416"/>
        </pc:sldMkLst>
        <pc:spChg chg="mod">
          <ac:chgData name="Jayanth reddy Katam" userId="c6e7d371f244bdbf" providerId="LiveId" clId="{BEED222E-E174-49A0-927F-28D2BCD624EC}" dt="2025-10-28T12:16:36.260" v="111" actId="20577"/>
          <ac:spMkLst>
            <pc:docMk/>
            <pc:sldMk cId="4026276336" sldId="416"/>
            <ac:spMk id="10" creationId="{CC522913-6A06-127B-5854-A1681F8D6446}"/>
          </ac:spMkLst>
        </pc:spChg>
        <pc:picChg chg="add mod">
          <ac:chgData name="Jayanth reddy Katam" userId="c6e7d371f244bdbf" providerId="LiveId" clId="{BEED222E-E174-49A0-927F-28D2BCD624EC}" dt="2025-10-28T12:15:06.251" v="61" actId="14100"/>
          <ac:picMkLst>
            <pc:docMk/>
            <pc:sldMk cId="4026276336" sldId="416"/>
            <ac:picMk id="7" creationId="{CADEDB57-547B-3BA8-F347-E68BA2FC30EF}"/>
          </ac:picMkLst>
        </pc:picChg>
        <pc:picChg chg="del">
          <ac:chgData name="Jayanth reddy Katam" userId="c6e7d371f244bdbf" providerId="LiveId" clId="{BEED222E-E174-49A0-927F-28D2BCD624EC}" dt="2025-10-28T12:14:22.371" v="56" actId="478"/>
          <ac:picMkLst>
            <pc:docMk/>
            <pc:sldMk cId="4026276336" sldId="416"/>
            <ac:picMk id="9" creationId="{D1F5E1D4-994B-495B-6C7C-EB23C7330726}"/>
          </ac:picMkLst>
        </pc:picChg>
      </pc:sldChg>
      <pc:sldChg chg="addSp delSp modSp mod">
        <pc:chgData name="Jayanth reddy Katam" userId="c6e7d371f244bdbf" providerId="LiveId" clId="{BEED222E-E174-49A0-927F-28D2BCD624EC}" dt="2025-10-28T12:16:24.714" v="91" actId="20577"/>
        <pc:sldMkLst>
          <pc:docMk/>
          <pc:sldMk cId="209658558" sldId="417"/>
        </pc:sldMkLst>
        <pc:spChg chg="mod">
          <ac:chgData name="Jayanth reddy Katam" userId="c6e7d371f244bdbf" providerId="LiveId" clId="{BEED222E-E174-49A0-927F-28D2BCD624EC}" dt="2025-10-28T12:16:24.714" v="91" actId="20577"/>
          <ac:spMkLst>
            <pc:docMk/>
            <pc:sldMk cId="209658558" sldId="417"/>
            <ac:spMk id="10" creationId="{68C2AE20-28D2-42D0-387D-080908DE7BCB}"/>
          </ac:spMkLst>
        </pc:spChg>
        <pc:picChg chg="del">
          <ac:chgData name="Jayanth reddy Katam" userId="c6e7d371f244bdbf" providerId="LiveId" clId="{BEED222E-E174-49A0-927F-28D2BCD624EC}" dt="2025-10-28T12:15:12.999" v="62" actId="478"/>
          <ac:picMkLst>
            <pc:docMk/>
            <pc:sldMk cId="209658558" sldId="417"/>
            <ac:picMk id="7" creationId="{A12C7981-AF0B-9BF8-CABC-127F67087B45}"/>
          </ac:picMkLst>
        </pc:picChg>
        <pc:picChg chg="add mod">
          <ac:chgData name="Jayanth reddy Katam" userId="c6e7d371f244bdbf" providerId="LiveId" clId="{BEED222E-E174-49A0-927F-28D2BCD624EC}" dt="2025-10-28T12:16:08.975" v="68" actId="14100"/>
          <ac:picMkLst>
            <pc:docMk/>
            <pc:sldMk cId="209658558" sldId="417"/>
            <ac:picMk id="8" creationId="{44837AD4-88F0-CDFA-B0E6-3B0EB4FBDD9F}"/>
          </ac:picMkLst>
        </pc:picChg>
      </pc:sldChg>
      <pc:sldChg chg="addSp delSp modSp mod">
        <pc:chgData name="Jayanth reddy Katam" userId="c6e7d371f244bdbf" providerId="LiveId" clId="{BEED222E-E174-49A0-927F-28D2BCD624EC}" dt="2025-10-28T12:19:02.279" v="193" actId="20577"/>
        <pc:sldMkLst>
          <pc:docMk/>
          <pc:sldMk cId="912951923" sldId="418"/>
        </pc:sldMkLst>
        <pc:spChg chg="mod">
          <ac:chgData name="Jayanth reddy Katam" userId="c6e7d371f244bdbf" providerId="LiveId" clId="{BEED222E-E174-49A0-927F-28D2BCD624EC}" dt="2025-10-28T12:19:02.279" v="193" actId="20577"/>
          <ac:spMkLst>
            <pc:docMk/>
            <pc:sldMk cId="912951923" sldId="418"/>
            <ac:spMk id="10" creationId="{57251DA1-2CE0-A4B1-4C97-984E9C70391A}"/>
          </ac:spMkLst>
        </pc:spChg>
        <pc:picChg chg="del">
          <ac:chgData name="Jayanth reddy Katam" userId="c6e7d371f244bdbf" providerId="LiveId" clId="{BEED222E-E174-49A0-927F-28D2BCD624EC}" dt="2025-10-28T12:16:46.698" v="112" actId="478"/>
          <ac:picMkLst>
            <pc:docMk/>
            <pc:sldMk cId="912951923" sldId="418"/>
            <ac:picMk id="7" creationId="{70717108-EFF7-63B0-8132-C156025E1BAA}"/>
          </ac:picMkLst>
        </pc:picChg>
        <pc:picChg chg="add del mod">
          <ac:chgData name="Jayanth reddy Katam" userId="c6e7d371f244bdbf" providerId="LiveId" clId="{BEED222E-E174-49A0-927F-28D2BCD624EC}" dt="2025-10-28T12:18:37.678" v="187" actId="478"/>
          <ac:picMkLst>
            <pc:docMk/>
            <pc:sldMk cId="912951923" sldId="418"/>
            <ac:picMk id="8" creationId="{3A3BDE1A-EAC1-46EC-BF3C-F073F414AB72}"/>
          </ac:picMkLst>
        </pc:picChg>
        <pc:picChg chg="add mod">
          <ac:chgData name="Jayanth reddy Katam" userId="c6e7d371f244bdbf" providerId="LiveId" clId="{BEED222E-E174-49A0-927F-28D2BCD624EC}" dt="2025-10-28T12:18:56.886" v="192" actId="14100"/>
          <ac:picMkLst>
            <pc:docMk/>
            <pc:sldMk cId="912951923" sldId="418"/>
            <ac:picMk id="11" creationId="{B3D57DD7-DF5A-718F-527A-7836BCAC0EC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10/29/2025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10/29/2025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5</a:t>
            </a:fld>
            <a:endParaRPr lang="en-US"/>
          </a:p>
        </p:txBody>
      </p:sp>
    </p:spTree>
    <p:extLst>
      <p:ext uri="{BB962C8B-B14F-4D97-AF65-F5344CB8AC3E}">
        <p14:creationId xmlns:p14="http://schemas.microsoft.com/office/powerpoint/2010/main" val="2583693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29 October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29 October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29 October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29 October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29 October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17428" y="3211882"/>
            <a:ext cx="6709143" cy="885409"/>
          </a:xfrm>
        </p:spPr>
        <p:txBody>
          <a:bodyPr>
            <a:normAutofit/>
          </a:bodyPr>
          <a:lstStyle/>
          <a:p>
            <a:r>
              <a:rPr lang="en-US" sz="3600" b="1" dirty="0">
                <a:solidFill>
                  <a:schemeClr val="tx1"/>
                </a:solidFill>
                <a:latin typeface="Times New Roman" panose="02020603050405020304" pitchFamily="18" charset="0"/>
                <a:cs typeface="Times New Roman" panose="02020603050405020304" pitchFamily="18" charset="0"/>
              </a:rPr>
              <a:t>O</a:t>
            </a:r>
            <a:r>
              <a:rPr lang="en-IN" sz="3600" b="1" dirty="0">
                <a:solidFill>
                  <a:schemeClr val="tx1"/>
                </a:solidFill>
                <a:latin typeface="Times New Roman" panose="02020603050405020304" pitchFamily="18" charset="0"/>
                <a:cs typeface="Times New Roman" panose="02020603050405020304" pitchFamily="18" charset="0"/>
              </a:rPr>
              <a:t>nline E-Commerce Store</a:t>
            </a:r>
          </a:p>
          <a:p>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29 October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t>1</a:t>
            </a:fld>
            <a:endParaRPr lang="en-US"/>
          </a:p>
        </p:txBody>
      </p:sp>
      <p:pic>
        <p:nvPicPr>
          <p:cNvPr id="3" name="image2.jpeg"/>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p:cNvSpPr txBox="1"/>
          <p:nvPr/>
        </p:nvSpPr>
        <p:spPr>
          <a:xfrm>
            <a:off x="342898" y="2024316"/>
            <a:ext cx="8610599" cy="1260475"/>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altLang="en-US" b="1" dirty="0">
                <a:latin typeface="Times New Roman" panose="02020603050405020304" pitchFamily="18" charset="0"/>
                <a:cs typeface="Times New Roman" panose="02020603050405020304" pitchFamily="18" charset="0"/>
              </a:rPr>
              <a:t>  SPCB1503 - JAVA FULLSTACK DEVELOPMENT</a:t>
            </a:r>
          </a:p>
          <a:p>
            <a:pPr algn="ctr"/>
            <a:endParaRPr lang="en-US" altLang="en-US" b="1" dirty="0">
              <a:latin typeface="Times New Roman" panose="02020603050405020304" pitchFamily="18" charset="0"/>
              <a:cs typeface="Times New Roman" panose="02020603050405020304" pitchFamily="18" charset="0"/>
            </a:endParaRPr>
          </a:p>
        </p:txBody>
      </p:sp>
      <p:sp>
        <p:nvSpPr>
          <p:cNvPr id="29" name="Subtitle 2"/>
          <p:cNvSpPr txBox="1"/>
          <p:nvPr/>
        </p:nvSpPr>
        <p:spPr>
          <a:xfrm>
            <a:off x="6781800" y="3918790"/>
            <a:ext cx="1981199" cy="58426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000" b="1" dirty="0">
                <a:solidFill>
                  <a:schemeClr val="tx1"/>
                </a:solidFill>
              </a:rPr>
              <a:t>                       </a:t>
            </a:r>
          </a:p>
        </p:txBody>
      </p:sp>
      <p:sp>
        <p:nvSpPr>
          <p:cNvPr id="2" name="Subtitle 2"/>
          <p:cNvSpPr txBox="1"/>
          <p:nvPr/>
        </p:nvSpPr>
        <p:spPr>
          <a:xfrm>
            <a:off x="-304800" y="4275684"/>
            <a:ext cx="2857500" cy="737716"/>
          </a:xfrm>
          <a:prstGeom prst="rect">
            <a:avLst/>
          </a:prstGeom>
        </p:spPr>
        <p:txBody>
          <a:bodyPr vert="horz" lIns="91440" tIns="45720" rIns="91440" bIns="45720" rtlCol="0">
            <a:normAutofit fontScale="47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8000" b="1" dirty="0">
                <a:solidFill>
                  <a:schemeClr val="tx1"/>
                </a:solidFill>
              </a:rPr>
              <a:t>  	</a:t>
            </a:r>
            <a:endParaRPr lang="en-US" sz="7200" b="1" dirty="0">
              <a:solidFill>
                <a:schemeClr val="tx1"/>
              </a:solidFill>
              <a:latin typeface="Times New Roman" panose="02020603050405020304" pitchFamily="18" charset="0"/>
              <a:cs typeface="Times New Roman" panose="02020603050405020304" pitchFamily="18" charset="0"/>
            </a:endParaRPr>
          </a:p>
          <a:p>
            <a:r>
              <a:rPr lang="en-US" sz="1900" b="1" dirty="0">
                <a:solidFill>
                  <a:schemeClr val="tx1"/>
                </a:solidFill>
              </a:rPr>
              <a:t>     </a:t>
            </a:r>
            <a:endParaRPr lang="en-GB" sz="1900" b="1" dirty="0">
              <a:solidFill>
                <a:schemeClr val="tx1"/>
              </a:solidFill>
            </a:endParaRPr>
          </a:p>
        </p:txBody>
      </p:sp>
      <p:sp>
        <p:nvSpPr>
          <p:cNvPr id="7" name="Subtitle 2"/>
          <p:cNvSpPr txBox="1"/>
          <p:nvPr/>
        </p:nvSpPr>
        <p:spPr>
          <a:xfrm>
            <a:off x="5943600" y="4268562"/>
            <a:ext cx="3200400" cy="103458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057400" y="4268562"/>
            <a:ext cx="4724400" cy="1877437"/>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JAVA FULLSTACK - 02</a:t>
            </a:r>
          </a:p>
          <a:p>
            <a:pPr algn="ct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43110431 – K. Jayanth Reddy</a:t>
            </a:r>
          </a:p>
          <a:p>
            <a:pPr algn="ctr"/>
            <a:endParaRPr lang="en-US" sz="20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530352" y="1752600"/>
            <a:ext cx="8229600" cy="4525963"/>
          </a:xfrm>
        </p:spPr>
        <p:txBody>
          <a:bodyPr>
            <a:noAutofit/>
          </a:bodyPr>
          <a:lstStyle/>
          <a:p>
            <a:pPr marL="0" indent="0" algn="just">
              <a:buNone/>
            </a:pPr>
            <a:r>
              <a:rPr lang="en-US" sz="2300" dirty="0">
                <a:latin typeface="+mj-lt"/>
                <a:cs typeface="Arial" panose="020B0604020202020204" pitchFamily="34" charset="0"/>
              </a:rPr>
              <a:t>The E-Commerce Store is a full-stack web application developed using </a:t>
            </a:r>
            <a:r>
              <a:rPr lang="en-US" sz="2300" b="1" dirty="0">
                <a:latin typeface="+mj-lt"/>
                <a:cs typeface="Arial" panose="020B0604020202020204" pitchFamily="34" charset="0"/>
              </a:rPr>
              <a:t>React.js</a:t>
            </a:r>
            <a:r>
              <a:rPr lang="en-US" sz="2300" dirty="0">
                <a:latin typeface="+mj-lt"/>
                <a:cs typeface="Arial" panose="020B0604020202020204" pitchFamily="34" charset="0"/>
              </a:rPr>
              <a:t> for the frontend and </a:t>
            </a:r>
            <a:r>
              <a:rPr lang="en-US" sz="2300" b="1" dirty="0">
                <a:latin typeface="+mj-lt"/>
                <a:cs typeface="Arial" panose="020B0604020202020204" pitchFamily="34" charset="0"/>
              </a:rPr>
              <a:t>Spring Boot</a:t>
            </a:r>
            <a:r>
              <a:rPr lang="en-US" sz="2300" dirty="0">
                <a:latin typeface="+mj-lt"/>
                <a:cs typeface="Arial" panose="020B0604020202020204" pitchFamily="34" charset="0"/>
              </a:rPr>
              <a:t> for the backend. It allows users to register, log in, browse products, and add items to the cart through a clean and interactive interface. The backend efficiently handles authentication, product management, and data processing using </a:t>
            </a:r>
            <a:r>
              <a:rPr lang="en-US" sz="2300" b="1" dirty="0">
                <a:latin typeface="+mj-lt"/>
                <a:cs typeface="Arial" panose="020B0604020202020204" pitchFamily="34" charset="0"/>
              </a:rPr>
              <a:t>H2</a:t>
            </a:r>
            <a:r>
              <a:rPr lang="en-US" sz="2300" dirty="0">
                <a:latin typeface="+mj-lt"/>
                <a:cs typeface="Arial" panose="020B0604020202020204" pitchFamily="34" charset="0"/>
              </a:rPr>
              <a:t> and </a:t>
            </a:r>
            <a:r>
              <a:rPr lang="en-US" sz="2300" b="1" dirty="0">
                <a:latin typeface="+mj-lt"/>
                <a:cs typeface="Arial" panose="020B0604020202020204" pitchFamily="34" charset="0"/>
              </a:rPr>
              <a:t>MySQL</a:t>
            </a:r>
            <a:r>
              <a:rPr lang="en-US" sz="2300" dirty="0">
                <a:latin typeface="+mj-lt"/>
                <a:cs typeface="Arial" panose="020B0604020202020204" pitchFamily="34" charset="0"/>
              </a:rPr>
              <a:t> databases. Communication between the client and server is managed through </a:t>
            </a:r>
            <a:r>
              <a:rPr lang="en-US" sz="2300" b="1" dirty="0">
                <a:latin typeface="+mj-lt"/>
                <a:cs typeface="Arial" panose="020B0604020202020204" pitchFamily="34" charset="0"/>
              </a:rPr>
              <a:t>RESTful APIs</a:t>
            </a:r>
            <a:r>
              <a:rPr lang="en-US" sz="2300" dirty="0">
                <a:latin typeface="+mj-lt"/>
                <a:cs typeface="Arial" panose="020B0604020202020204" pitchFamily="34" charset="0"/>
              </a:rPr>
              <a:t>, ensuring seamless data exchange. The project focuses on providing a secure, scalable, and user-friendly online shopping experience. It highlights the effective use of modern web technologies to build a dynamic and reliable e-commerce platform.</a:t>
            </a:r>
          </a:p>
        </p:txBody>
      </p:sp>
      <p:sp>
        <p:nvSpPr>
          <p:cNvPr id="4" name="Date Placeholder 3"/>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EXISTING SYSTEM</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3</a:t>
            </a:fld>
            <a:endParaRPr lang="en-US" dirty="0"/>
          </a:p>
        </p:txBody>
      </p:sp>
      <p:sp>
        <p:nvSpPr>
          <p:cNvPr id="4" name="Content Placeholder 3"/>
          <p:cNvSpPr>
            <a:spLocks noGrp="1"/>
          </p:cNvSpPr>
          <p:nvPr>
            <p:ph idx="1"/>
          </p:nvPr>
        </p:nvSpPr>
        <p:spPr>
          <a:xfrm>
            <a:off x="457200" y="1745456"/>
            <a:ext cx="8229600" cy="4144963"/>
          </a:xfrm>
        </p:spPr>
        <p:txBody>
          <a:bodyPr>
            <a:noAutofit/>
          </a:bodyPr>
          <a:lstStyle/>
          <a:p>
            <a:pPr marL="0" indent="0" algn="just">
              <a:buNone/>
            </a:pPr>
            <a:r>
              <a:rPr lang="en-US" sz="2300" dirty="0">
                <a:latin typeface="+mj-lt"/>
                <a:cs typeface="Arial" panose="020B0604020202020204" pitchFamily="34" charset="0"/>
              </a:rPr>
              <a:t>In the existing system, most traditional shopping methods require customers to visit physical stores, which is time-consuming and limited by location and store hours. Some small online platforms lack user-friendly interfaces and secure authentication mechanisms. They often fail to manage large product data efficiently and provide limited search or filtering options. Many systems do not support real-time product updates or smooth integration between frontend and backend .Data handling and user management are also not centralized, making maintenance difficult. Overall, the existing systems lack automation, scalability, and seamless user interaction for efficient online shopping.</a:t>
            </a:r>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29 October 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PROPOSED SYSTEM</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4</a:t>
            </a:fld>
            <a:endParaRPr lang="en-US" dirty="0"/>
          </a:p>
        </p:txBody>
      </p:sp>
      <p:sp>
        <p:nvSpPr>
          <p:cNvPr id="4" name="Content Placeholder 3"/>
          <p:cNvSpPr>
            <a:spLocks noGrp="1"/>
          </p:cNvSpPr>
          <p:nvPr>
            <p:ph idx="1"/>
          </p:nvPr>
        </p:nvSpPr>
        <p:spPr>
          <a:xfrm>
            <a:off x="457200" y="1685861"/>
            <a:ext cx="8229600" cy="4816475"/>
          </a:xfrm>
        </p:spPr>
        <p:txBody>
          <a:bodyPr>
            <a:normAutofit fontScale="70000" lnSpcReduction="20000"/>
          </a:bodyPr>
          <a:lstStyle/>
          <a:p>
            <a:pPr marL="0" indent="0" algn="just">
              <a:lnSpc>
                <a:spcPct val="120000"/>
              </a:lnSpc>
              <a:buNone/>
            </a:pPr>
            <a:r>
              <a:rPr lang="en-US" sz="3100" dirty="0">
                <a:latin typeface="+mj-lt"/>
                <a:cs typeface="Arial" panose="020B0604020202020204" pitchFamily="34" charset="0"/>
              </a:rPr>
              <a:t>The proposed system is a </a:t>
            </a:r>
            <a:r>
              <a:rPr lang="en-US" sz="3100" b="1" dirty="0">
                <a:latin typeface="+mj-lt"/>
                <a:cs typeface="Arial" panose="020B0604020202020204" pitchFamily="34" charset="0"/>
              </a:rPr>
              <a:t>Java Full Stack E-Commerce web application</a:t>
            </a:r>
            <a:r>
              <a:rPr lang="en-US" sz="3100" dirty="0">
                <a:latin typeface="+mj-lt"/>
                <a:cs typeface="Arial" panose="020B0604020202020204" pitchFamily="34" charset="0"/>
              </a:rPr>
              <a:t> built using </a:t>
            </a:r>
            <a:r>
              <a:rPr lang="en-US" sz="3100" b="1" dirty="0">
                <a:latin typeface="+mj-lt"/>
                <a:cs typeface="Arial" panose="020B0604020202020204" pitchFamily="34" charset="0"/>
              </a:rPr>
              <a:t>React.js</a:t>
            </a:r>
            <a:r>
              <a:rPr lang="en-US" sz="3100" dirty="0">
                <a:latin typeface="+mj-lt"/>
                <a:cs typeface="Arial" panose="020B0604020202020204" pitchFamily="34" charset="0"/>
              </a:rPr>
              <a:t> for the frontend and </a:t>
            </a:r>
            <a:r>
              <a:rPr lang="en-US" sz="3100" b="1" dirty="0">
                <a:latin typeface="+mj-lt"/>
                <a:cs typeface="Arial" panose="020B0604020202020204" pitchFamily="34" charset="0"/>
              </a:rPr>
              <a:t>Spring Boot</a:t>
            </a:r>
            <a:r>
              <a:rPr lang="en-US" sz="3100" dirty="0">
                <a:latin typeface="+mj-lt"/>
                <a:cs typeface="Arial" panose="020B0604020202020204" pitchFamily="34" charset="0"/>
              </a:rPr>
              <a:t> for the backend. It aims to provide a smooth, secure, and efficient online shopping experience. Users can easily register, log in, browse products, and manage their cart through an interactive and responsive interface. The backend handles authentication, product management, and order processing effectively. Data is stored and managed using both </a:t>
            </a:r>
            <a:r>
              <a:rPr lang="en-US" sz="3100" b="1" dirty="0">
                <a:latin typeface="+mj-lt"/>
                <a:cs typeface="Arial" panose="020B0604020202020204" pitchFamily="34" charset="0"/>
              </a:rPr>
              <a:t>H2</a:t>
            </a:r>
            <a:r>
              <a:rPr lang="en-US" sz="3100" dirty="0">
                <a:latin typeface="+mj-lt"/>
                <a:cs typeface="Arial" panose="020B0604020202020204" pitchFamily="34" charset="0"/>
              </a:rPr>
              <a:t> and </a:t>
            </a:r>
            <a:r>
              <a:rPr lang="en-US" sz="3100" b="1" dirty="0">
                <a:latin typeface="+mj-lt"/>
                <a:cs typeface="Arial" panose="020B0604020202020204" pitchFamily="34" charset="0"/>
              </a:rPr>
              <a:t>MySQL</a:t>
            </a:r>
            <a:r>
              <a:rPr lang="en-US" sz="3100" dirty="0">
                <a:latin typeface="+mj-lt"/>
                <a:cs typeface="Arial" panose="020B0604020202020204" pitchFamily="34" charset="0"/>
              </a:rPr>
              <a:t> databases for flexibility and performance. Communication between client and server is handled through </a:t>
            </a:r>
            <a:r>
              <a:rPr lang="en-US" sz="3100" b="1" dirty="0">
                <a:latin typeface="+mj-lt"/>
                <a:cs typeface="Arial" panose="020B0604020202020204" pitchFamily="34" charset="0"/>
              </a:rPr>
              <a:t>RESTful APIs</a:t>
            </a:r>
            <a:r>
              <a:rPr lang="en-US" sz="3100" dirty="0">
                <a:latin typeface="+mj-lt"/>
                <a:cs typeface="Arial" panose="020B0604020202020204" pitchFamily="34" charset="0"/>
              </a:rPr>
              <a:t>. The system ensures better scalability, faster response, and improved user experience. It automates shopping operations and simplifies management for both users and admins.</a:t>
            </a:r>
          </a:p>
          <a:p>
            <a:pPr marL="0" indent="0">
              <a:buNone/>
            </a:pPr>
            <a:endParaRPr lang="en-US" sz="2000" dirty="0"/>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29 October 2025</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ADVANTAGES</a:t>
            </a:r>
          </a:p>
        </p:txBody>
      </p:sp>
      <p:sp>
        <p:nvSpPr>
          <p:cNvPr id="10" name="Content Placeholder 9">
            <a:extLst>
              <a:ext uri="{FF2B5EF4-FFF2-40B4-BE49-F238E27FC236}">
                <a16:creationId xmlns:a16="http://schemas.microsoft.com/office/drawing/2014/main" id="{5A878788-6B21-2FA4-B6B2-72E25509F6E3}"/>
              </a:ext>
            </a:extLst>
          </p:cNvPr>
          <p:cNvSpPr>
            <a:spLocks noGrp="1"/>
          </p:cNvSpPr>
          <p:nvPr>
            <p:ph idx="1"/>
          </p:nvPr>
        </p:nvSpPr>
        <p:spPr>
          <a:xfrm>
            <a:off x="457200" y="1510030"/>
            <a:ext cx="8229600" cy="4800600"/>
          </a:xfrm>
        </p:spPr>
        <p:txBody>
          <a:bodyPr>
            <a:normAutofit lnSpcReduction="10000"/>
          </a:bodyPr>
          <a:lstStyle/>
          <a:p>
            <a:r>
              <a:rPr lang="en-US" sz="2000" dirty="0"/>
              <a:t>Provides a </a:t>
            </a:r>
            <a:r>
              <a:rPr lang="en-US" sz="2000" b="1" dirty="0"/>
              <a:t>user-friendly and responsive interface</a:t>
            </a:r>
            <a:r>
              <a:rPr lang="en-US" sz="2000" dirty="0"/>
              <a:t> using React.js for smooth navigation.</a:t>
            </a:r>
          </a:p>
          <a:p>
            <a:r>
              <a:rPr lang="en-US" sz="2000" dirty="0"/>
              <a:t>Ensures </a:t>
            </a:r>
            <a:r>
              <a:rPr lang="en-US" sz="2000" b="1" dirty="0"/>
              <a:t>secure authentication and data handling</a:t>
            </a:r>
            <a:r>
              <a:rPr lang="en-US" sz="2000" dirty="0"/>
              <a:t> through Spring Security and RESTful APIs.</a:t>
            </a:r>
          </a:p>
          <a:p>
            <a:r>
              <a:rPr lang="en-US" sz="2000" dirty="0"/>
              <a:t>Uses both </a:t>
            </a:r>
            <a:r>
              <a:rPr lang="en-US" sz="2000" b="1" dirty="0"/>
              <a:t>H2 and MySQL databases</a:t>
            </a:r>
            <a:r>
              <a:rPr lang="en-US" sz="2000" dirty="0"/>
              <a:t> for easy testing, scalability, and efficient data management.</a:t>
            </a:r>
          </a:p>
          <a:p>
            <a:r>
              <a:rPr lang="en-US" sz="2000" dirty="0"/>
              <a:t>Offers </a:t>
            </a:r>
            <a:r>
              <a:rPr lang="en-US" sz="2000" b="1" dirty="0"/>
              <a:t>real-time updates</a:t>
            </a:r>
            <a:r>
              <a:rPr lang="en-US" sz="2000" dirty="0"/>
              <a:t> for products, cart, and user actions.</a:t>
            </a:r>
          </a:p>
          <a:p>
            <a:r>
              <a:rPr lang="en-US" sz="2000" dirty="0"/>
              <a:t>Enables </a:t>
            </a:r>
            <a:r>
              <a:rPr lang="en-US" sz="2000" b="1" dirty="0"/>
              <a:t>faster performance and reduced load time</a:t>
            </a:r>
            <a:r>
              <a:rPr lang="en-US" sz="2000" dirty="0"/>
              <a:t> with optimized frontend-backend communication.</a:t>
            </a:r>
          </a:p>
          <a:p>
            <a:r>
              <a:rPr lang="en-US" sz="2000" dirty="0"/>
              <a:t>Simplifies </a:t>
            </a:r>
            <a:r>
              <a:rPr lang="en-US" sz="2000" b="1" dirty="0"/>
              <a:t>maintenance and future enhancement</a:t>
            </a:r>
            <a:r>
              <a:rPr lang="en-US" sz="2000" dirty="0"/>
              <a:t> due to modular full-stack architecture.</a:t>
            </a:r>
          </a:p>
          <a:p>
            <a:r>
              <a:rPr lang="en-US" sz="2000" dirty="0"/>
              <a:t>Enhances </a:t>
            </a:r>
            <a:r>
              <a:rPr lang="en-US" sz="2000" b="1" dirty="0"/>
              <a:t>customer convenience</a:t>
            </a:r>
            <a:r>
              <a:rPr lang="en-US" sz="2000" dirty="0"/>
              <a:t> by enabling shopping anytime and anywhere.</a:t>
            </a:r>
          </a:p>
          <a:p>
            <a:r>
              <a:rPr lang="en-US" sz="2000" dirty="0"/>
              <a:t>Allows </a:t>
            </a:r>
            <a:r>
              <a:rPr lang="en-US" sz="2000" b="1" dirty="0"/>
              <a:t>centralized product and user management</a:t>
            </a:r>
            <a:r>
              <a:rPr lang="en-US" sz="2000" dirty="0"/>
              <a:t> for better control and automation.</a:t>
            </a:r>
            <a:endParaRPr lang="en-IN" sz="2000" dirty="0"/>
          </a:p>
        </p:txBody>
      </p:sp>
      <p:sp>
        <p:nvSpPr>
          <p:cNvPr id="8" name="Date Placeholder 2"/>
          <p:cNvSpPr>
            <a:spLocks noGrp="1"/>
          </p:cNvSpPr>
          <p:nvPr>
            <p:ph type="dt" sz="half" idx="10"/>
          </p:nvPr>
        </p:nvSpPr>
        <p:spPr/>
        <p:txBody>
          <a:bodyPr/>
          <a:lstStyle/>
          <a:p>
            <a:fld id="{9FE8A9F4-4DB3-4EF1-A315-68E41BB689F2}" type="datetime3">
              <a:rPr lang="en-US" smtClean="0"/>
              <a:pPr/>
              <a:t>29 October 2025</a:t>
            </a:fld>
            <a:endParaRPr lang="en-US" dirty="0"/>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pPr/>
              <a:t>5</a:t>
            </a:fld>
            <a:endParaRPr lang="en-US" dirty="0"/>
          </a:p>
        </p:txBody>
      </p:sp>
      <p:sp>
        <p:nvSpPr>
          <p:cNvPr id="16" name="AutoShape 6" descr="Image of "/>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7" name="AutoShape 8" descr="Image of "/>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DISADVANTAGES</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6</a:t>
            </a:fld>
            <a:endParaRPr lang="en-US" dirty="0"/>
          </a:p>
        </p:txBody>
      </p:sp>
      <p:sp>
        <p:nvSpPr>
          <p:cNvPr id="4" name="Content Placeholder 3"/>
          <p:cNvSpPr>
            <a:spLocks noGrp="1"/>
          </p:cNvSpPr>
          <p:nvPr>
            <p:ph idx="1"/>
          </p:nvPr>
        </p:nvSpPr>
        <p:spPr>
          <a:xfrm>
            <a:off x="457200" y="1447800"/>
            <a:ext cx="8229600" cy="4525963"/>
          </a:xfrm>
        </p:spPr>
        <p:txBody>
          <a:bodyPr>
            <a:noAutofit/>
          </a:bodyPr>
          <a:lstStyle/>
          <a:p>
            <a:pPr algn="just">
              <a:lnSpc>
                <a:spcPct val="120000"/>
              </a:lnSpc>
            </a:pPr>
            <a:r>
              <a:rPr lang="en-US" sz="2000" dirty="0"/>
              <a:t>Initial </a:t>
            </a:r>
            <a:r>
              <a:rPr lang="en-US" sz="2000" b="1" dirty="0"/>
              <a:t>development and deployment cost</a:t>
            </a:r>
            <a:r>
              <a:rPr lang="en-US" sz="2000" dirty="0"/>
              <a:t> can be high due to multiple technologies used.</a:t>
            </a:r>
          </a:p>
          <a:p>
            <a:pPr algn="just">
              <a:lnSpc>
                <a:spcPct val="120000"/>
              </a:lnSpc>
            </a:pPr>
            <a:r>
              <a:rPr lang="en-US" sz="2000" b="1" dirty="0"/>
              <a:t>Data security risks</a:t>
            </a:r>
            <a:r>
              <a:rPr lang="en-US" sz="2000" dirty="0"/>
              <a:t> exist if the system is not properly configured or updated.</a:t>
            </a:r>
          </a:p>
          <a:p>
            <a:pPr algn="just">
              <a:lnSpc>
                <a:spcPct val="120000"/>
              </a:lnSpc>
            </a:pPr>
            <a:r>
              <a:rPr lang="en-US" sz="2000" b="1" dirty="0"/>
              <a:t>Maintenance</a:t>
            </a:r>
            <a:r>
              <a:rPr lang="en-US" sz="2000" dirty="0"/>
              <a:t> requires technical knowledge of both frontend (React) and backend (Spring Boot).</a:t>
            </a:r>
          </a:p>
          <a:p>
            <a:pPr algn="just">
              <a:lnSpc>
                <a:spcPct val="120000"/>
              </a:lnSpc>
            </a:pPr>
            <a:r>
              <a:rPr lang="en-US" sz="2000" dirty="0"/>
              <a:t>Integration of </a:t>
            </a:r>
            <a:r>
              <a:rPr lang="en-US" sz="2000" b="1" dirty="0"/>
              <a:t>third-party payment gateways</a:t>
            </a:r>
            <a:r>
              <a:rPr lang="en-US" sz="2000" dirty="0"/>
              <a:t> may involve complex configuration.</a:t>
            </a:r>
          </a:p>
          <a:p>
            <a:pPr algn="just">
              <a:lnSpc>
                <a:spcPct val="120000"/>
              </a:lnSpc>
            </a:pPr>
            <a:r>
              <a:rPr lang="en-US" sz="2000" dirty="0"/>
              <a:t>Performance may reduce when </a:t>
            </a:r>
            <a:r>
              <a:rPr lang="en-US" sz="2000" b="1" dirty="0"/>
              <a:t>handling very large datasets or heavy traffic</a:t>
            </a:r>
          </a:p>
          <a:p>
            <a:pPr algn="just">
              <a:lnSpc>
                <a:spcPct val="120000"/>
              </a:lnSpc>
            </a:pPr>
            <a:r>
              <a:rPr lang="en-US" sz="2000" b="1" dirty="0"/>
              <a:t>Scalability and hosting costs</a:t>
            </a:r>
            <a:r>
              <a:rPr lang="en-US" sz="2000" dirty="0"/>
              <a:t> can increase as the number of users grows.</a:t>
            </a:r>
            <a:endParaRPr lang="en-US" sz="2000" dirty="0">
              <a:latin typeface="Times New Roman" panose="02020603050405020304" pitchFamily="18" charset="0"/>
              <a:cs typeface="Times New Roman" panose="02020603050405020304" pitchFamily="18" charset="0"/>
            </a:endParaRPr>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29 October 2025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44756-3BC8-CC46-F15A-85A87508D8CC}"/>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HARDWARE REQUIREMENTS</a:t>
            </a:r>
            <a:endParaRPr lang="en-IN" sz="36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24D6E558-B46A-F66B-418D-C1AC3221EF94}"/>
              </a:ext>
            </a:extLst>
          </p:cNvPr>
          <p:cNvSpPr>
            <a:spLocks noGrp="1"/>
          </p:cNvSpPr>
          <p:nvPr>
            <p:ph idx="1"/>
          </p:nvPr>
        </p:nvSpPr>
        <p:spPr>
          <a:xfrm>
            <a:off x="457200" y="1782762"/>
            <a:ext cx="8229600" cy="4756150"/>
          </a:xfrm>
        </p:spPr>
        <p:txBody>
          <a:bodyPr>
            <a:normAutofit/>
          </a:bodyPr>
          <a:lstStyle/>
          <a:p>
            <a:r>
              <a:rPr lang="en-US" sz="2000" b="1" dirty="0"/>
              <a:t>Processor:</a:t>
            </a:r>
            <a:r>
              <a:rPr lang="en-US" sz="2000" dirty="0"/>
              <a:t> Intel Core i3 or above.</a:t>
            </a:r>
          </a:p>
          <a:p>
            <a:r>
              <a:rPr lang="en-US" sz="2000" b="1" dirty="0"/>
              <a:t>RAM:</a:t>
            </a:r>
            <a:r>
              <a:rPr lang="en-US" sz="2000" dirty="0"/>
              <a:t> Minimum 4 GB (8 GB recommended for smoother performance)</a:t>
            </a:r>
          </a:p>
          <a:p>
            <a:r>
              <a:rPr lang="en-US" sz="2000" b="1" dirty="0"/>
              <a:t>Hard Disk:</a:t>
            </a:r>
            <a:r>
              <a:rPr lang="en-US" sz="2000" dirty="0"/>
              <a:t> At least 250 GB of storage space.</a:t>
            </a:r>
          </a:p>
          <a:p>
            <a:r>
              <a:rPr lang="en-US" sz="2000" b="1" dirty="0"/>
              <a:t>Monitor:</a:t>
            </a:r>
            <a:r>
              <a:rPr lang="en-US" sz="2000" dirty="0"/>
              <a:t> 15-inch or above with a minimum resolution of 1024×768.</a:t>
            </a:r>
          </a:p>
          <a:p>
            <a:r>
              <a:rPr lang="en-US" sz="2000" b="1" dirty="0"/>
              <a:t>Keyboard &amp; Mouse:</a:t>
            </a:r>
            <a:r>
              <a:rPr lang="en-US" sz="2000" dirty="0"/>
              <a:t> Standard input devices.</a:t>
            </a:r>
          </a:p>
          <a:p>
            <a:r>
              <a:rPr lang="en-US" sz="2000" b="1" dirty="0"/>
              <a:t>Network:</a:t>
            </a:r>
            <a:r>
              <a:rPr lang="en-US" sz="2000" dirty="0"/>
              <a:t> Stable internet connection for frontend-backend communication.</a:t>
            </a:r>
          </a:p>
          <a:p>
            <a:r>
              <a:rPr lang="en-US" sz="2000" b="1" dirty="0"/>
              <a:t>System Type:</a:t>
            </a:r>
            <a:r>
              <a:rPr lang="en-US" sz="2000" dirty="0"/>
              <a:t> 64-bit Operating System (Windows / Linux / macOS).</a:t>
            </a:r>
            <a:endParaRPr lang="en-IN" sz="2000" dirty="0"/>
          </a:p>
        </p:txBody>
      </p:sp>
      <p:sp>
        <p:nvSpPr>
          <p:cNvPr id="3" name="Date Placeholder 2">
            <a:extLst>
              <a:ext uri="{FF2B5EF4-FFF2-40B4-BE49-F238E27FC236}">
                <a16:creationId xmlns:a16="http://schemas.microsoft.com/office/drawing/2014/main" id="{E80630D8-ECB6-B000-1ED1-FBE46B36E36D}"/>
              </a:ext>
            </a:extLst>
          </p:cNvPr>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a:extLst>
              <a:ext uri="{FF2B5EF4-FFF2-40B4-BE49-F238E27FC236}">
                <a16:creationId xmlns:a16="http://schemas.microsoft.com/office/drawing/2014/main" id="{7AFCCA0D-61CC-3F31-02CA-ACD662E4E5AE}"/>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B5EBF262-7179-887C-0D10-2822BD77BF17}"/>
              </a:ext>
            </a:extLst>
          </p:cNvPr>
          <p:cNvSpPr>
            <a:spLocks noGrp="1"/>
          </p:cNvSpPr>
          <p:nvPr>
            <p:ph type="sldNum" sz="quarter" idx="12"/>
          </p:nvPr>
        </p:nvSpPr>
        <p:spPr/>
        <p:txBody>
          <a:bodyPr/>
          <a:lstStyle/>
          <a:p>
            <a:fld id="{7B28076C-CE04-4A00-BFAA-A90EA8355859}" type="slidenum">
              <a:rPr lang="en-US" smtClean="0"/>
              <a:t>7</a:t>
            </a:fld>
            <a:endParaRPr lang="en-US"/>
          </a:p>
        </p:txBody>
      </p:sp>
    </p:spTree>
    <p:extLst>
      <p:ext uri="{BB962C8B-B14F-4D97-AF65-F5344CB8AC3E}">
        <p14:creationId xmlns:p14="http://schemas.microsoft.com/office/powerpoint/2010/main" val="1865815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3C0E-BF70-F713-FEBA-3C30938F2538}"/>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SOFTWARE REQUIREMENTS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1798D0-59A2-D3BD-BE4C-765045282717}"/>
              </a:ext>
            </a:extLst>
          </p:cNvPr>
          <p:cNvSpPr>
            <a:spLocks noGrp="1"/>
          </p:cNvSpPr>
          <p:nvPr>
            <p:ph idx="1"/>
          </p:nvPr>
        </p:nvSpPr>
        <p:spPr/>
        <p:txBody>
          <a:bodyPr>
            <a:normAutofit/>
          </a:bodyPr>
          <a:lstStyle/>
          <a:p>
            <a:r>
              <a:rPr lang="en-US" sz="2400" b="1" dirty="0"/>
              <a:t>Operating System:</a:t>
            </a:r>
            <a:r>
              <a:rPr lang="en-US" sz="2400" dirty="0"/>
              <a:t> Windows 10 / 11, Linux, or macOS.</a:t>
            </a:r>
          </a:p>
          <a:p>
            <a:r>
              <a:rPr lang="en-IN" sz="2400" b="1" dirty="0"/>
              <a:t>Frontend Technology:</a:t>
            </a:r>
            <a:r>
              <a:rPr lang="en-IN" sz="2400" dirty="0"/>
              <a:t> </a:t>
            </a:r>
            <a:r>
              <a:rPr lang="en-IN" sz="2400" dirty="0" err="1"/>
              <a:t>React.js,HTML,CSS</a:t>
            </a:r>
            <a:r>
              <a:rPr lang="en-IN" sz="2400" dirty="0"/>
              <a:t>.</a:t>
            </a:r>
          </a:p>
          <a:p>
            <a:r>
              <a:rPr lang="en-US" sz="2400" b="1" dirty="0"/>
              <a:t>Backend Technology:</a:t>
            </a:r>
            <a:r>
              <a:rPr lang="en-US" sz="2400" dirty="0"/>
              <a:t> Spring Boot (Java).</a:t>
            </a:r>
          </a:p>
          <a:p>
            <a:r>
              <a:rPr lang="en-US" sz="2400" b="1" dirty="0"/>
              <a:t>Databases:</a:t>
            </a:r>
            <a:r>
              <a:rPr lang="en-US" sz="2400" dirty="0"/>
              <a:t> H2 Database (for testing) and MySQL (for production).</a:t>
            </a:r>
          </a:p>
          <a:p>
            <a:r>
              <a:rPr lang="en-US" sz="2400" b="1" dirty="0"/>
              <a:t>Backend Framework:</a:t>
            </a:r>
            <a:r>
              <a:rPr lang="en-US" sz="2400" dirty="0"/>
              <a:t> Spring Framework with Spring Security and RESTful APIs.</a:t>
            </a:r>
          </a:p>
          <a:p>
            <a:r>
              <a:rPr lang="en-US" sz="2400" b="1" dirty="0"/>
              <a:t>Frontend Tools:</a:t>
            </a:r>
            <a:r>
              <a:rPr lang="en-US" sz="2400" dirty="0"/>
              <a:t> Node.js, </a:t>
            </a:r>
            <a:r>
              <a:rPr lang="en-US" sz="2400" dirty="0" err="1"/>
              <a:t>npm</a:t>
            </a:r>
            <a:r>
              <a:rPr lang="en-US" sz="2400" dirty="0"/>
              <a:t>, and Visual Studio Code.</a:t>
            </a:r>
          </a:p>
          <a:p>
            <a:r>
              <a:rPr lang="en-US" sz="2400" b="1" dirty="0"/>
              <a:t>Backend Tools:</a:t>
            </a:r>
            <a:r>
              <a:rPr lang="en-US" sz="2400" dirty="0"/>
              <a:t> IntelliJ IDEA / Eclipse IDE.</a:t>
            </a:r>
          </a:p>
          <a:p>
            <a:r>
              <a:rPr lang="en-US" sz="2400" b="1" dirty="0"/>
              <a:t>Build Tool:</a:t>
            </a:r>
            <a:r>
              <a:rPr lang="en-US" sz="2400" dirty="0"/>
              <a:t> Maven or Gradle.</a:t>
            </a:r>
            <a:endParaRPr lang="en-IN" sz="2400" dirty="0"/>
          </a:p>
        </p:txBody>
      </p:sp>
      <p:sp>
        <p:nvSpPr>
          <p:cNvPr id="4" name="Date Placeholder 3">
            <a:extLst>
              <a:ext uri="{FF2B5EF4-FFF2-40B4-BE49-F238E27FC236}">
                <a16:creationId xmlns:a16="http://schemas.microsoft.com/office/drawing/2014/main" id="{00991481-10C5-044B-F0CC-08EEB35EADBA}"/>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DC2CF1D8-DEAC-FD87-B631-89C6A74A9B6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675E882-A854-DE95-C0FB-D7BDB4FF863B}"/>
              </a:ext>
            </a:extLst>
          </p:cNvPr>
          <p:cNvSpPr>
            <a:spLocks noGrp="1"/>
          </p:cNvSpPr>
          <p:nvPr>
            <p:ph type="sldNum" sz="quarter" idx="12"/>
          </p:nvPr>
        </p:nvSpPr>
        <p:spPr/>
        <p:txBody>
          <a:bodyPr/>
          <a:lstStyle/>
          <a:p>
            <a:fld id="{7B28076C-CE04-4A00-BFAA-A90EA8355859}" type="slidenum">
              <a:rPr lang="en-US" smtClean="0"/>
              <a:t>8</a:t>
            </a:fld>
            <a:endParaRPr lang="en-US"/>
          </a:p>
        </p:txBody>
      </p:sp>
    </p:spTree>
    <p:extLst>
      <p:ext uri="{BB962C8B-B14F-4D97-AF65-F5344CB8AC3E}">
        <p14:creationId xmlns:p14="http://schemas.microsoft.com/office/powerpoint/2010/main" val="419623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latin typeface="Times New Roman" panose="02020603050405020304" pitchFamily="18" charset="0"/>
                <a:cs typeface="Times New Roman" panose="02020603050405020304" pitchFamily="18" charset="0"/>
              </a:rPr>
              <a:t>MODULES</a:t>
            </a:r>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9</a:t>
            </a:fld>
            <a:endParaRPr lang="en-US" dirty="0"/>
          </a:p>
        </p:txBody>
      </p:sp>
      <p:sp>
        <p:nvSpPr>
          <p:cNvPr id="8" name="Date Placeholder 2"/>
          <p:cNvSpPr>
            <a:spLocks noGrp="1"/>
          </p:cNvSpPr>
          <p:nvPr>
            <p:ph type="dt" sz="half" idx="10"/>
          </p:nvPr>
        </p:nvSpPr>
        <p:spPr>
          <a:xfrm>
            <a:off x="457200" y="6264275"/>
            <a:ext cx="2133600" cy="365125"/>
          </a:xfrm>
        </p:spPr>
        <p:txBody>
          <a:bodyPr/>
          <a:lstStyle/>
          <a:p>
            <a:fld id="{9FE8A9F4-4DB3-4EF1-A315-68E41BB689F2}" type="datetime3">
              <a:rPr lang="en-US" smtClean="0"/>
              <a:t>29 October 2025</a:t>
            </a:fld>
            <a:endParaRPr lang="en-US" dirty="0"/>
          </a:p>
        </p:txBody>
      </p:sp>
      <p:sp>
        <p:nvSpPr>
          <p:cNvPr id="3" name="Rectangle 1">
            <a:extLst>
              <a:ext uri="{FF2B5EF4-FFF2-40B4-BE49-F238E27FC236}">
                <a16:creationId xmlns:a16="http://schemas.microsoft.com/office/drawing/2014/main" id="{188BA6BF-B4F7-E57C-165F-54DFA5287709}"/>
              </a:ext>
            </a:extLst>
          </p:cNvPr>
          <p:cNvSpPr>
            <a:spLocks noGrp="1" noChangeArrowheads="1"/>
          </p:cNvSpPr>
          <p:nvPr>
            <p:ph idx="1"/>
          </p:nvPr>
        </p:nvSpPr>
        <p:spPr bwMode="auto">
          <a:xfrm>
            <a:off x="304800" y="1389888"/>
            <a:ext cx="863505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mj-lt"/>
              </a:rPr>
              <a:t>User Module:</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None/>
              <a:tabLst/>
            </a:pPr>
            <a:r>
              <a:rPr lang="en-US" altLang="en-US" sz="2000" dirty="0">
                <a:latin typeface="+mj-lt"/>
              </a:rPr>
              <a:t>     1. </a:t>
            </a:r>
            <a:r>
              <a:rPr kumimoji="0" lang="en-US" altLang="en-US" sz="2000" b="0" i="0" u="none" strike="noStrike" cap="none" normalizeH="0" baseline="0" dirty="0">
                <a:ln>
                  <a:noFill/>
                </a:ln>
                <a:solidFill>
                  <a:schemeClr val="tx1"/>
                </a:solidFill>
                <a:effectLst/>
                <a:latin typeface="+mj-lt"/>
              </a:rPr>
              <a:t>Allows users to register, log in, and manage their profiles securely.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2. Handles authentication and authorization using Spring Security.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mj-lt"/>
              </a:rPr>
              <a:t>Product Module:</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1.Displays available products with details such as name, price, and description.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mj-lt"/>
              </a:rPr>
              <a:t>Cart Module:</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1. Manages items added to the shopping cart by the user.</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mj-lt"/>
              </a:rPr>
              <a:t>Order Module:</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1. Handles order placement, tracking, and order history.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2. Connects the cart with checkout and payment processes.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mj-lt"/>
              </a:rPr>
              <a:t>Database Module:</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1. Stores user, product, and order information using </a:t>
            </a:r>
            <a:r>
              <a:rPr kumimoji="0" lang="en-US" altLang="en-US" sz="2000" b="1" i="0" u="none" strike="noStrike" cap="none" normalizeH="0" baseline="0" dirty="0">
                <a:ln>
                  <a:noFill/>
                </a:ln>
                <a:solidFill>
                  <a:schemeClr val="tx1"/>
                </a:solidFill>
                <a:effectLst/>
                <a:latin typeface="+mj-lt"/>
              </a:rPr>
              <a:t>H2</a:t>
            </a:r>
            <a:r>
              <a:rPr kumimoji="0" lang="en-US" altLang="en-US" sz="2000" b="0" i="0" u="none" strike="noStrike" cap="none" normalizeH="0" baseline="0" dirty="0">
                <a:ln>
                  <a:noFill/>
                </a:ln>
                <a:solidFill>
                  <a:schemeClr val="tx1"/>
                </a:solidFill>
                <a:effectLst/>
                <a:latin typeface="+mj-lt"/>
              </a:rPr>
              <a:t> and </a:t>
            </a:r>
            <a:r>
              <a:rPr kumimoji="0" lang="en-US" altLang="en-US" sz="2000" b="1" i="0" u="none" strike="noStrike" cap="none" normalizeH="0" baseline="0" dirty="0">
                <a:ln>
                  <a:noFill/>
                </a:ln>
                <a:solidFill>
                  <a:schemeClr val="tx1"/>
                </a:solidFill>
                <a:effectLst/>
                <a:latin typeface="+mj-lt"/>
              </a:rPr>
              <a:t>MySQL</a:t>
            </a:r>
            <a:r>
              <a:rPr kumimoji="0" lang="en-US" altLang="en-US" sz="2000" b="0" i="0" u="none" strike="noStrike" cap="none" normalizeH="0" baseline="0" dirty="0">
                <a:ln>
                  <a:noFill/>
                </a:ln>
                <a:solidFill>
                  <a:schemeClr val="tx1"/>
                </a:solidFill>
                <a:effectLst/>
                <a:latin typeface="+mj-lt"/>
              </a:rPr>
              <a:t> databases.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mj-lt"/>
              </a:rPr>
              <a:t>     2. Ensures data consistency, integrity, and fast retrieval.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MODULE DESCRIPTION</a:t>
            </a:r>
          </a:p>
        </p:txBody>
      </p:sp>
      <p:sp>
        <p:nvSpPr>
          <p:cNvPr id="3" name="Content Placeholder 2">
            <a:extLst>
              <a:ext uri="{FF2B5EF4-FFF2-40B4-BE49-F238E27FC236}">
                <a16:creationId xmlns:a16="http://schemas.microsoft.com/office/drawing/2014/main" id="{AEB0EEE9-6F2B-0F7E-22A6-48425816F6DE}"/>
              </a:ext>
            </a:extLst>
          </p:cNvPr>
          <p:cNvSpPr>
            <a:spLocks noGrp="1"/>
          </p:cNvSpPr>
          <p:nvPr>
            <p:ph idx="1"/>
          </p:nvPr>
        </p:nvSpPr>
        <p:spPr/>
        <p:txBody>
          <a:bodyPr>
            <a:normAutofit/>
          </a:bodyPr>
          <a:lstStyle/>
          <a:p>
            <a:r>
              <a:rPr lang="en-US" sz="2000" b="1" dirty="0"/>
              <a:t>User Module:</a:t>
            </a:r>
            <a:br>
              <a:rPr lang="en-US" sz="2000" dirty="0"/>
            </a:br>
            <a:r>
              <a:rPr lang="en-US" sz="2000" dirty="0"/>
              <a:t>This module allows users to register, log in, and manage their personal profiles. It ensures secure authentication and authorization using </a:t>
            </a:r>
            <a:r>
              <a:rPr lang="en-US" sz="2000" b="1" dirty="0"/>
              <a:t>Spring Security</a:t>
            </a:r>
            <a:r>
              <a:rPr lang="en-US" sz="2000" dirty="0"/>
              <a:t>. Users can view products, add them to the cart, and place orders after successful login.</a:t>
            </a:r>
          </a:p>
          <a:p>
            <a:r>
              <a:rPr lang="en-US" sz="2000" b="1" dirty="0"/>
              <a:t>Product Module:</a:t>
            </a:r>
            <a:br>
              <a:rPr lang="en-US" sz="2000" dirty="0"/>
            </a:br>
            <a:r>
              <a:rPr lang="en-US" sz="2000" dirty="0"/>
              <a:t>This module manages all product-related operations such as displaying product lists, details, and categories. It allows users to search, filter, and view products dynamically using </a:t>
            </a:r>
            <a:r>
              <a:rPr lang="en-US" sz="2000" b="1" dirty="0"/>
              <a:t>React.js</a:t>
            </a:r>
            <a:r>
              <a:rPr lang="en-US" sz="2000" dirty="0"/>
              <a:t> components.</a:t>
            </a:r>
          </a:p>
          <a:p>
            <a:r>
              <a:rPr lang="en-US" sz="2000" b="1" dirty="0"/>
              <a:t>Cart Module:</a:t>
            </a:r>
            <a:br>
              <a:rPr lang="en-US" sz="2000" dirty="0"/>
            </a:br>
            <a:r>
              <a:rPr lang="en-US" sz="2000" dirty="0"/>
              <a:t>The cart module enables users to add, view, and modify selected items before checkout. It automatically updates total prices and quantities and communicates with the backend to store cart data temporarily.</a:t>
            </a:r>
          </a:p>
          <a:p>
            <a:endParaRPr lang="en-IN" sz="2000" dirty="0"/>
          </a:p>
        </p:txBody>
      </p:sp>
      <p:sp>
        <p:nvSpPr>
          <p:cNvPr id="8" name="Date Placeholder 2"/>
          <p:cNvSpPr>
            <a:spLocks noGrp="1"/>
          </p:cNvSpPr>
          <p:nvPr>
            <p:ph type="dt" sz="half" idx="10"/>
          </p:nvPr>
        </p:nvSpPr>
        <p:spPr/>
        <p:txBody>
          <a:bodyPr/>
          <a:lstStyle/>
          <a:p>
            <a:fld id="{9FE8A9F4-4DB3-4EF1-A315-68E41BB689F2}" type="datetime3">
              <a:rPr lang="en-US" smtClean="0"/>
              <a:t>29 October 2025</a:t>
            </a:fld>
            <a:endParaRPr lang="en-US" dirty="0"/>
          </a:p>
        </p:txBody>
      </p:sp>
      <p:sp>
        <p:nvSpPr>
          <p:cNvPr id="5" name="Footer Placeholder 4"/>
          <p:cNvSpPr>
            <a:spLocks noGrp="1"/>
          </p:cNvSpPr>
          <p:nvPr>
            <p:ph type="ftr" sz="quarter" idx="11"/>
          </p:nvPr>
        </p:nvSpPr>
        <p:spPr/>
        <p:txBody>
          <a:bodyPr/>
          <a:lstStyle/>
          <a:p>
            <a:r>
              <a:rPr lang="en-US" dirty="0"/>
              <a:t>School of Computing - CSE</a:t>
            </a:r>
          </a:p>
          <a:p>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E476-227B-79C4-47AC-6BABF6339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22CC7-0287-ACB0-201E-7DB66299C5E4}"/>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MODULE DESCRIPTION</a:t>
            </a:r>
          </a:p>
        </p:txBody>
      </p:sp>
      <p:sp>
        <p:nvSpPr>
          <p:cNvPr id="3" name="Content Placeholder 2">
            <a:extLst>
              <a:ext uri="{FF2B5EF4-FFF2-40B4-BE49-F238E27FC236}">
                <a16:creationId xmlns:a16="http://schemas.microsoft.com/office/drawing/2014/main" id="{CD53A4B5-CB91-406C-1622-BBC648F1BA65}"/>
              </a:ext>
            </a:extLst>
          </p:cNvPr>
          <p:cNvSpPr>
            <a:spLocks noGrp="1"/>
          </p:cNvSpPr>
          <p:nvPr>
            <p:ph idx="1"/>
          </p:nvPr>
        </p:nvSpPr>
        <p:spPr/>
        <p:txBody>
          <a:bodyPr>
            <a:normAutofit/>
          </a:bodyPr>
          <a:lstStyle/>
          <a:p>
            <a:r>
              <a:rPr lang="en-US" sz="2000" b="1" dirty="0"/>
              <a:t>Order Module:</a:t>
            </a:r>
            <a:br>
              <a:rPr lang="en-US" sz="2000" dirty="0"/>
            </a:br>
            <a:r>
              <a:rPr lang="en-US" sz="2000" dirty="0"/>
              <a:t>This module manages the complete order process — from checkout to order confirmation. It maintains order history, tracks status, and ensures smooth integration between cart and payment operations.</a:t>
            </a:r>
          </a:p>
          <a:p>
            <a:r>
              <a:rPr lang="en-IN" sz="2000" b="1" dirty="0"/>
              <a:t>Database Module:</a:t>
            </a:r>
            <a:br>
              <a:rPr lang="en-IN" sz="2000" dirty="0"/>
            </a:br>
            <a:r>
              <a:rPr lang="en-IN" sz="2000" dirty="0"/>
              <a:t>The database module handles all data storage and retrieval processes using </a:t>
            </a:r>
            <a:r>
              <a:rPr lang="en-IN" sz="2000" b="1" dirty="0"/>
              <a:t>H2</a:t>
            </a:r>
            <a:r>
              <a:rPr lang="en-IN" sz="2000" dirty="0"/>
              <a:t> and </a:t>
            </a:r>
            <a:r>
              <a:rPr lang="en-IN" sz="2000" b="1" dirty="0"/>
              <a:t>MySQL</a:t>
            </a:r>
            <a:r>
              <a:rPr lang="en-IN" sz="2000" dirty="0"/>
              <a:t> databases. It stores information such as user details, product data, cart items, and order records, ensuring data consistency and reliability.</a:t>
            </a:r>
          </a:p>
        </p:txBody>
      </p:sp>
      <p:sp>
        <p:nvSpPr>
          <p:cNvPr id="8" name="Date Placeholder 2">
            <a:extLst>
              <a:ext uri="{FF2B5EF4-FFF2-40B4-BE49-F238E27FC236}">
                <a16:creationId xmlns:a16="http://schemas.microsoft.com/office/drawing/2014/main" id="{68082C55-9B98-A097-8FB2-AAC1ACE1A0B1}"/>
              </a:ext>
            </a:extLst>
          </p:cNvPr>
          <p:cNvSpPr>
            <a:spLocks noGrp="1"/>
          </p:cNvSpPr>
          <p:nvPr>
            <p:ph type="dt" sz="half" idx="10"/>
          </p:nvPr>
        </p:nvSpPr>
        <p:spPr/>
        <p:txBody>
          <a:bodyPr/>
          <a:lstStyle/>
          <a:p>
            <a:fld id="{9FE8A9F4-4DB3-4EF1-A315-68E41BB689F2}" type="datetime3">
              <a:rPr lang="en-US" smtClean="0"/>
              <a:t>29 October 2025</a:t>
            </a:fld>
            <a:endParaRPr lang="en-US" dirty="0"/>
          </a:p>
        </p:txBody>
      </p:sp>
      <p:sp>
        <p:nvSpPr>
          <p:cNvPr id="5" name="Footer Placeholder 4">
            <a:extLst>
              <a:ext uri="{FF2B5EF4-FFF2-40B4-BE49-F238E27FC236}">
                <a16:creationId xmlns:a16="http://schemas.microsoft.com/office/drawing/2014/main" id="{07E6A02E-4A57-B5ED-A590-577268BC31AD}"/>
              </a:ext>
            </a:extLst>
          </p:cNvPr>
          <p:cNvSpPr>
            <a:spLocks noGrp="1"/>
          </p:cNvSpPr>
          <p:nvPr>
            <p:ph type="ftr" sz="quarter" idx="11"/>
          </p:nvPr>
        </p:nvSpPr>
        <p:spPr/>
        <p:txBody>
          <a:bodyPr/>
          <a:lstStyle/>
          <a:p>
            <a:r>
              <a:rPr lang="en-US" dirty="0"/>
              <a:t>School of Computing - CSE</a:t>
            </a:r>
          </a:p>
          <a:p>
            <a:endParaRPr lang="en-US" dirty="0"/>
          </a:p>
        </p:txBody>
      </p:sp>
      <p:sp>
        <p:nvSpPr>
          <p:cNvPr id="6" name="Slide Number Placeholder 5">
            <a:extLst>
              <a:ext uri="{FF2B5EF4-FFF2-40B4-BE49-F238E27FC236}">
                <a16:creationId xmlns:a16="http://schemas.microsoft.com/office/drawing/2014/main" id="{C6679B92-71B6-17FC-3C8E-4F01E951C8EC}"/>
              </a:ext>
            </a:extLst>
          </p:cNvPr>
          <p:cNvSpPr>
            <a:spLocks noGrp="1"/>
          </p:cNvSpPr>
          <p:nvPr>
            <p:ph type="sldNum" sz="quarter" idx="12"/>
          </p:nvPr>
        </p:nvSpPr>
        <p:spPr/>
        <p:txBody>
          <a:bodyPr/>
          <a:lstStyle/>
          <a:p>
            <a:fld id="{7B28076C-CE04-4A00-BFAA-A90EA8355859}" type="slidenum">
              <a:rPr lang="en-US" smtClean="0"/>
              <a:t>11</a:t>
            </a:fld>
            <a:endParaRPr lang="en-US" dirty="0"/>
          </a:p>
        </p:txBody>
      </p:sp>
    </p:spTree>
    <p:extLst>
      <p:ext uri="{BB962C8B-B14F-4D97-AF65-F5344CB8AC3E}">
        <p14:creationId xmlns:p14="http://schemas.microsoft.com/office/powerpoint/2010/main" val="806847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B7D29-7CBC-05A9-FAD0-83954A8B9BEC}"/>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EE1B8938-ED97-D6F3-94B6-56941308DDC8}"/>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1600" i="1" dirty="0"/>
              <a:t>Fig: Home Page</a:t>
            </a:r>
          </a:p>
        </p:txBody>
      </p:sp>
      <p:sp>
        <p:nvSpPr>
          <p:cNvPr id="3" name="Date Placeholder 2">
            <a:extLst>
              <a:ext uri="{FF2B5EF4-FFF2-40B4-BE49-F238E27FC236}">
                <a16:creationId xmlns:a16="http://schemas.microsoft.com/office/drawing/2014/main" id="{66B14654-560B-651D-4FFF-409834EAADF7}"/>
              </a:ext>
            </a:extLst>
          </p:cNvPr>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a:extLst>
              <a:ext uri="{FF2B5EF4-FFF2-40B4-BE49-F238E27FC236}">
                <a16:creationId xmlns:a16="http://schemas.microsoft.com/office/drawing/2014/main" id="{E3F2C36E-9086-A731-A357-3922831C9377}"/>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2370A1DF-3F44-0A2A-7D26-15B4DDBB687C}"/>
              </a:ext>
            </a:extLst>
          </p:cNvPr>
          <p:cNvSpPr>
            <a:spLocks noGrp="1"/>
          </p:cNvSpPr>
          <p:nvPr>
            <p:ph type="sldNum" sz="quarter" idx="12"/>
          </p:nvPr>
        </p:nvSpPr>
        <p:spPr/>
        <p:txBody>
          <a:bodyPr/>
          <a:lstStyle/>
          <a:p>
            <a:fld id="{7B28076C-CE04-4A00-BFAA-A90EA8355859}" type="slidenum">
              <a:rPr lang="en-US" smtClean="0"/>
              <a:t>12</a:t>
            </a:fld>
            <a:endParaRPr lang="en-US"/>
          </a:p>
        </p:txBody>
      </p:sp>
      <p:pic>
        <p:nvPicPr>
          <p:cNvPr id="9" name="Picture 8">
            <a:extLst>
              <a:ext uri="{FF2B5EF4-FFF2-40B4-BE49-F238E27FC236}">
                <a16:creationId xmlns:a16="http://schemas.microsoft.com/office/drawing/2014/main" id="{5C66F302-372D-24C4-9936-F22E6DC0C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447800"/>
            <a:ext cx="8001000" cy="4114800"/>
          </a:xfrm>
          <a:prstGeom prst="rect">
            <a:avLst/>
          </a:prstGeom>
        </p:spPr>
      </p:pic>
    </p:spTree>
    <p:extLst>
      <p:ext uri="{BB962C8B-B14F-4D97-AF65-F5344CB8AC3E}">
        <p14:creationId xmlns:p14="http://schemas.microsoft.com/office/powerpoint/2010/main" val="601917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E83C-3938-848A-F4B4-D979CD90F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2413-08A4-6FAC-9907-9BBD33DA9506}"/>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CC522913-6A06-127B-5854-A1681F8D6446}"/>
              </a:ext>
            </a:extLst>
          </p:cNvPr>
          <p:cNvSpPr>
            <a:spLocks noGrp="1"/>
          </p:cNvSpPr>
          <p:nvPr>
            <p:ph idx="1"/>
          </p:nvPr>
        </p:nvSpPr>
        <p:spPr>
          <a:xfrm>
            <a:off x="457200" y="1646237"/>
            <a:ext cx="8229600" cy="4525963"/>
          </a:xfrm>
        </p:spPr>
        <p:txBody>
          <a:bodyPr>
            <a:normAutofit lnSpcReduction="1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800" i="1" dirty="0"/>
              <a:t>Fig: Cart Page</a:t>
            </a:r>
          </a:p>
        </p:txBody>
      </p:sp>
      <p:sp>
        <p:nvSpPr>
          <p:cNvPr id="3" name="Date Placeholder 2">
            <a:extLst>
              <a:ext uri="{FF2B5EF4-FFF2-40B4-BE49-F238E27FC236}">
                <a16:creationId xmlns:a16="http://schemas.microsoft.com/office/drawing/2014/main" id="{7D4282BC-0A67-3A29-7ADD-9E9A013DB366}"/>
              </a:ext>
            </a:extLst>
          </p:cNvPr>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a:extLst>
              <a:ext uri="{FF2B5EF4-FFF2-40B4-BE49-F238E27FC236}">
                <a16:creationId xmlns:a16="http://schemas.microsoft.com/office/drawing/2014/main" id="{E23AD0A2-BAF7-5C06-32C4-EC0494730A6C}"/>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A2F4BE71-2F0A-92A0-DA10-B4601F0BBAC3}"/>
              </a:ext>
            </a:extLst>
          </p:cNvPr>
          <p:cNvSpPr>
            <a:spLocks noGrp="1"/>
          </p:cNvSpPr>
          <p:nvPr>
            <p:ph type="sldNum" sz="quarter" idx="12"/>
          </p:nvPr>
        </p:nvSpPr>
        <p:spPr/>
        <p:txBody>
          <a:bodyPr/>
          <a:lstStyle/>
          <a:p>
            <a:fld id="{7B28076C-CE04-4A00-BFAA-A90EA8355859}" type="slidenum">
              <a:rPr lang="en-US" smtClean="0"/>
              <a:t>13</a:t>
            </a:fld>
            <a:endParaRPr lang="en-US"/>
          </a:p>
        </p:txBody>
      </p:sp>
      <p:pic>
        <p:nvPicPr>
          <p:cNvPr id="7" name="Picture 6">
            <a:extLst>
              <a:ext uri="{FF2B5EF4-FFF2-40B4-BE49-F238E27FC236}">
                <a16:creationId xmlns:a16="http://schemas.microsoft.com/office/drawing/2014/main" id="{CADEDB57-547B-3BA8-F347-E68BA2FC3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555750"/>
            <a:ext cx="8001000" cy="3930650"/>
          </a:xfrm>
          <a:prstGeom prst="rect">
            <a:avLst/>
          </a:prstGeom>
        </p:spPr>
      </p:pic>
    </p:spTree>
    <p:extLst>
      <p:ext uri="{BB962C8B-B14F-4D97-AF65-F5344CB8AC3E}">
        <p14:creationId xmlns:p14="http://schemas.microsoft.com/office/powerpoint/2010/main" val="4026276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6F96-1CD6-2880-841D-13AB8E045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F5AF4-A482-EFB1-88EE-00D0905FF06D}"/>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68C2AE20-28D2-42D0-387D-080908DE7BCB}"/>
              </a:ext>
            </a:extLst>
          </p:cNvPr>
          <p:cNvSpPr>
            <a:spLocks noGrp="1"/>
          </p:cNvSpPr>
          <p:nvPr>
            <p:ph idx="1"/>
          </p:nvPr>
        </p:nvSpPr>
        <p:spPr>
          <a:xfrm>
            <a:off x="457200" y="1646237"/>
            <a:ext cx="8229600" cy="4525963"/>
          </a:xfrm>
        </p:spPr>
        <p:txBody>
          <a:bodyPr>
            <a:normAutofit lnSpcReduction="1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800" i="1" dirty="0"/>
              <a:t>Fig: My Orders Page</a:t>
            </a:r>
          </a:p>
        </p:txBody>
      </p:sp>
      <p:sp>
        <p:nvSpPr>
          <p:cNvPr id="3" name="Date Placeholder 2">
            <a:extLst>
              <a:ext uri="{FF2B5EF4-FFF2-40B4-BE49-F238E27FC236}">
                <a16:creationId xmlns:a16="http://schemas.microsoft.com/office/drawing/2014/main" id="{E0904E6C-76F0-D678-7D09-9F843544D0BB}"/>
              </a:ext>
            </a:extLst>
          </p:cNvPr>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a:extLst>
              <a:ext uri="{FF2B5EF4-FFF2-40B4-BE49-F238E27FC236}">
                <a16:creationId xmlns:a16="http://schemas.microsoft.com/office/drawing/2014/main" id="{6D1AC136-CEA2-666D-DDE2-5F9180C20600}"/>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7FF173F8-05FC-9812-EC65-40138BE3BAF4}"/>
              </a:ext>
            </a:extLst>
          </p:cNvPr>
          <p:cNvSpPr>
            <a:spLocks noGrp="1"/>
          </p:cNvSpPr>
          <p:nvPr>
            <p:ph type="sldNum" sz="quarter" idx="12"/>
          </p:nvPr>
        </p:nvSpPr>
        <p:spPr/>
        <p:txBody>
          <a:bodyPr/>
          <a:lstStyle/>
          <a:p>
            <a:fld id="{7B28076C-CE04-4A00-BFAA-A90EA8355859}" type="slidenum">
              <a:rPr lang="en-US" smtClean="0"/>
              <a:t>14</a:t>
            </a:fld>
            <a:endParaRPr lang="en-US"/>
          </a:p>
        </p:txBody>
      </p:sp>
      <p:pic>
        <p:nvPicPr>
          <p:cNvPr id="8" name="Picture 7">
            <a:extLst>
              <a:ext uri="{FF2B5EF4-FFF2-40B4-BE49-F238E27FC236}">
                <a16:creationId xmlns:a16="http://schemas.microsoft.com/office/drawing/2014/main" id="{44837AD4-88F0-CDFA-B0E6-3B0EB4FBD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462086"/>
            <a:ext cx="7924800" cy="4024313"/>
          </a:xfrm>
          <a:prstGeom prst="rect">
            <a:avLst/>
          </a:prstGeom>
        </p:spPr>
      </p:pic>
    </p:spTree>
    <p:extLst>
      <p:ext uri="{BB962C8B-B14F-4D97-AF65-F5344CB8AC3E}">
        <p14:creationId xmlns:p14="http://schemas.microsoft.com/office/powerpoint/2010/main" val="20965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B3B0-9EC7-7B6A-741F-768A95EAB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17D27-05A0-8D37-7436-814B4F5D90BC}"/>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SAMPLE OUTPUT</a:t>
            </a:r>
            <a:endParaRPr lang="en-IN" sz="3600" b="1"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57251DA1-2CE0-A4B1-4C97-984E9C70391A}"/>
              </a:ext>
            </a:extLst>
          </p:cNvPr>
          <p:cNvSpPr>
            <a:spLocks noGrp="1"/>
          </p:cNvSpPr>
          <p:nvPr>
            <p:ph idx="1"/>
          </p:nvPr>
        </p:nvSpPr>
        <p:spPr>
          <a:xfrm>
            <a:off x="457200" y="1646237"/>
            <a:ext cx="8229600" cy="4525963"/>
          </a:xfrm>
        </p:spPr>
        <p:txBody>
          <a:bodyPr>
            <a:normAutofit lnSpcReduction="10000"/>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800" i="1" dirty="0"/>
              <a:t>Fig: Wishlist Page</a:t>
            </a:r>
          </a:p>
        </p:txBody>
      </p:sp>
      <p:sp>
        <p:nvSpPr>
          <p:cNvPr id="3" name="Date Placeholder 2">
            <a:extLst>
              <a:ext uri="{FF2B5EF4-FFF2-40B4-BE49-F238E27FC236}">
                <a16:creationId xmlns:a16="http://schemas.microsoft.com/office/drawing/2014/main" id="{850B2FC5-DFC8-962E-0756-CDAADFBAF638}"/>
              </a:ext>
            </a:extLst>
          </p:cNvPr>
          <p:cNvSpPr>
            <a:spLocks noGrp="1"/>
          </p:cNvSpPr>
          <p:nvPr>
            <p:ph type="dt" sz="half" idx="10"/>
          </p:nvPr>
        </p:nvSpPr>
        <p:spPr/>
        <p:txBody>
          <a:bodyPr/>
          <a:lstStyle/>
          <a:p>
            <a:fld id="{B97CCCDB-4457-4C48-985F-BD1C33DF88D2}" type="datetime3">
              <a:rPr lang="en-US" smtClean="0"/>
              <a:t>29 October 2025</a:t>
            </a:fld>
            <a:endParaRPr lang="en-US"/>
          </a:p>
        </p:txBody>
      </p:sp>
      <p:sp>
        <p:nvSpPr>
          <p:cNvPr id="4" name="Footer Placeholder 3">
            <a:extLst>
              <a:ext uri="{FF2B5EF4-FFF2-40B4-BE49-F238E27FC236}">
                <a16:creationId xmlns:a16="http://schemas.microsoft.com/office/drawing/2014/main" id="{9D6D60A9-1D40-5779-6AEF-DE658AF50821}"/>
              </a:ext>
            </a:extLst>
          </p:cNvPr>
          <p:cNvSpPr>
            <a:spLocks noGrp="1"/>
          </p:cNvSpPr>
          <p:nvPr>
            <p:ph type="ftr" sz="quarter" idx="11"/>
          </p:nvPr>
        </p:nvSpPr>
        <p:spPr/>
        <p:txBody>
          <a:bodyPr/>
          <a:lstStyle/>
          <a:p>
            <a:r>
              <a:rPr lang="en-US"/>
              <a:t>School of Computing - CSE</a:t>
            </a:r>
          </a:p>
        </p:txBody>
      </p:sp>
      <p:sp>
        <p:nvSpPr>
          <p:cNvPr id="5" name="Slide Number Placeholder 4">
            <a:extLst>
              <a:ext uri="{FF2B5EF4-FFF2-40B4-BE49-F238E27FC236}">
                <a16:creationId xmlns:a16="http://schemas.microsoft.com/office/drawing/2014/main" id="{18BB3E54-5F9B-F112-23E6-48497115E4B8}"/>
              </a:ext>
            </a:extLst>
          </p:cNvPr>
          <p:cNvSpPr>
            <a:spLocks noGrp="1"/>
          </p:cNvSpPr>
          <p:nvPr>
            <p:ph type="sldNum" sz="quarter" idx="12"/>
          </p:nvPr>
        </p:nvSpPr>
        <p:spPr/>
        <p:txBody>
          <a:bodyPr/>
          <a:lstStyle/>
          <a:p>
            <a:fld id="{7B28076C-CE04-4A00-BFAA-A90EA8355859}" type="slidenum">
              <a:rPr lang="en-US" smtClean="0"/>
              <a:t>15</a:t>
            </a:fld>
            <a:endParaRPr lang="en-US"/>
          </a:p>
        </p:txBody>
      </p:sp>
      <p:pic>
        <p:nvPicPr>
          <p:cNvPr id="11" name="Picture 10">
            <a:extLst>
              <a:ext uri="{FF2B5EF4-FFF2-40B4-BE49-F238E27FC236}">
                <a16:creationId xmlns:a16="http://schemas.microsoft.com/office/drawing/2014/main" id="{B3D57DD7-DF5A-718F-527A-7836BCAC0E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940" y="1425511"/>
            <a:ext cx="7930660" cy="4060889"/>
          </a:xfrm>
          <a:prstGeom prst="rect">
            <a:avLst/>
          </a:prstGeom>
        </p:spPr>
      </p:pic>
    </p:spTree>
    <p:extLst>
      <p:ext uri="{BB962C8B-B14F-4D97-AF65-F5344CB8AC3E}">
        <p14:creationId xmlns:p14="http://schemas.microsoft.com/office/powerpoint/2010/main" val="912951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D920-BD03-A879-2C5A-BD6E7C933B5B}"/>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BE604F-E085-A180-4533-C77D121DC58A}"/>
              </a:ext>
            </a:extLst>
          </p:cNvPr>
          <p:cNvSpPr>
            <a:spLocks noGrp="1"/>
          </p:cNvSpPr>
          <p:nvPr>
            <p:ph idx="1"/>
          </p:nvPr>
        </p:nvSpPr>
        <p:spPr/>
        <p:txBody>
          <a:bodyPr>
            <a:normAutofit/>
          </a:bodyPr>
          <a:lstStyle/>
          <a:p>
            <a:pPr marL="0" indent="0" algn="just">
              <a:buNone/>
            </a:pPr>
            <a:r>
              <a:rPr lang="en-US" sz="2000" dirty="0"/>
              <a:t>The E-Commerce Store project successfully demonstrates the integration of </a:t>
            </a:r>
            <a:r>
              <a:rPr lang="en-US" sz="2000" b="1" dirty="0"/>
              <a:t>React.js</a:t>
            </a:r>
            <a:r>
              <a:rPr lang="en-US" sz="2000" dirty="0"/>
              <a:t> and </a:t>
            </a:r>
            <a:r>
              <a:rPr lang="en-US" sz="2000" b="1" dirty="0"/>
              <a:t>Spring Boot</a:t>
            </a:r>
            <a:r>
              <a:rPr lang="en-US" sz="2000" dirty="0"/>
              <a:t> to build a dynamic and efficient online shopping platform. It provides a seamless user experience with secure login, product browsing, and order management features. The use of </a:t>
            </a:r>
            <a:r>
              <a:rPr lang="en-US" sz="2000" b="1" dirty="0"/>
              <a:t>H2</a:t>
            </a:r>
            <a:r>
              <a:rPr lang="en-US" sz="2000" dirty="0"/>
              <a:t> and </a:t>
            </a:r>
            <a:r>
              <a:rPr lang="en-US" sz="2000" b="1" dirty="0"/>
              <a:t>MySQL</a:t>
            </a:r>
            <a:r>
              <a:rPr lang="en-US" sz="2000" dirty="0"/>
              <a:t> databases ensures reliable data handling and smooth backend operations. The system effectively bridges the gap between customers and sellers through a responsive and user-friendly interface. It enhances accessibility, scalability, and performance using modern full-stack technologies. By implementing RESTful APIs, the project ensures efficient communication between frontend and backend. Overall, it achieves the goal of automating online shopping processes while maintaining security and usability. The system can be further expanded with payment gateways and advanced analytics for future improvements</a:t>
            </a:r>
            <a:endParaRPr lang="en-IN" sz="2000" dirty="0"/>
          </a:p>
        </p:txBody>
      </p:sp>
      <p:sp>
        <p:nvSpPr>
          <p:cNvPr id="4" name="Date Placeholder 3">
            <a:extLst>
              <a:ext uri="{FF2B5EF4-FFF2-40B4-BE49-F238E27FC236}">
                <a16:creationId xmlns:a16="http://schemas.microsoft.com/office/drawing/2014/main" id="{208463C7-9CAA-5549-57B9-64DCBD7FE335}"/>
              </a:ext>
            </a:extLst>
          </p:cNvPr>
          <p:cNvSpPr>
            <a:spLocks noGrp="1"/>
          </p:cNvSpPr>
          <p:nvPr>
            <p:ph type="dt" sz="half" idx="10"/>
          </p:nvPr>
        </p:nvSpPr>
        <p:spPr/>
        <p:txBody>
          <a:bodyPr/>
          <a:lstStyle/>
          <a:p>
            <a:fld id="{EB7275DB-6D13-480B-AC77-F5019BDC5287}" type="datetime3">
              <a:rPr lang="en-US" smtClean="0"/>
              <a:t>29 October 2025</a:t>
            </a:fld>
            <a:endParaRPr lang="en-US"/>
          </a:p>
        </p:txBody>
      </p:sp>
      <p:sp>
        <p:nvSpPr>
          <p:cNvPr id="5" name="Footer Placeholder 4">
            <a:extLst>
              <a:ext uri="{FF2B5EF4-FFF2-40B4-BE49-F238E27FC236}">
                <a16:creationId xmlns:a16="http://schemas.microsoft.com/office/drawing/2014/main" id="{2C37FB72-B32B-A8D4-C9C7-934213468BD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E592B28-CCC0-2668-8276-B214578BE86D}"/>
              </a:ext>
            </a:extLst>
          </p:cNvPr>
          <p:cNvSpPr>
            <a:spLocks noGrp="1"/>
          </p:cNvSpPr>
          <p:nvPr>
            <p:ph type="sldNum" sz="quarter" idx="12"/>
          </p:nvPr>
        </p:nvSpPr>
        <p:spPr/>
        <p:txBody>
          <a:bodyPr/>
          <a:lstStyle/>
          <a:p>
            <a:fld id="{7B28076C-CE04-4A00-BFAA-A90EA8355859}" type="slidenum">
              <a:rPr lang="en-US" smtClean="0"/>
              <a:t>16</a:t>
            </a:fld>
            <a:endParaRPr lang="en-US"/>
          </a:p>
        </p:txBody>
      </p:sp>
    </p:spTree>
    <p:extLst>
      <p:ext uri="{BB962C8B-B14F-4D97-AF65-F5344CB8AC3E}">
        <p14:creationId xmlns:p14="http://schemas.microsoft.com/office/powerpoint/2010/main" val="208454217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1357</Words>
  <Application>Microsoft Office PowerPoint</Application>
  <PresentationFormat>On-screen Show (4:3)</PresentationFormat>
  <Paragraphs>162</Paragraphs>
  <Slides>16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Custom Design</vt:lpstr>
      <vt:lpstr>  </vt:lpstr>
      <vt:lpstr>ABSTRACT</vt:lpstr>
      <vt:lpstr>EXISTING SYSTEM</vt:lpstr>
      <vt:lpstr>PROPOSED SYSTEM</vt:lpstr>
      <vt:lpstr>ADVANTAGES</vt:lpstr>
      <vt:lpstr>DISADVANTAGES</vt:lpstr>
      <vt:lpstr>HARDWARE REQUIREMENTS</vt:lpstr>
      <vt:lpstr>SOFTWARE REQUIREMENTS</vt:lpstr>
      <vt:lpstr>MODULES</vt:lpstr>
      <vt:lpstr>MODULE DESCRIPTION</vt:lpstr>
      <vt:lpstr>MODULE DESCRIPTION</vt:lpstr>
      <vt:lpstr>SAMPLE OUTPUT</vt:lpstr>
      <vt:lpstr>SAMPLE OUTPUT</vt:lpstr>
      <vt:lpstr>SAMPLE OUTPUT</vt:lpstr>
      <vt:lpstr>SAMPLE OUTPUT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Jayanth reddy Katam</cp:lastModifiedBy>
  <cp:revision>120</cp:revision>
  <dcterms:created xsi:type="dcterms:W3CDTF">2019-11-06T07:48:00Z</dcterms:created>
  <dcterms:modified xsi:type="dcterms:W3CDTF">2025-10-28T23:14:31Z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DE20839960574E60BD3B4661623EDE19_12</vt:lpwstr>
  </property>
  <property fmtid="{D5CDD505-2E9C-101B-9397-08002B2CF9AE}" pid="3" name="KSOProductBuildVer">
    <vt:lpwstr>1033-12.2.0.23131</vt:lpwstr>
  </property>
</Properties>
</file>